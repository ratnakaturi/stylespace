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62" r:id="rId7"/>
    <p:sldId id="264" r:id="rId8"/>
    <p:sldId id="265"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2B438E-5061-469C-A5F0-A8D53D8EA18D}" v="71" dt="2025-03-09T17:45:52.3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5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DF5ED8-8012-4097-B104-A2555D883D82}" type="datetimeFigureOut">
              <a:rPr lang="en-IN" smtClean="0"/>
              <a:t>09-03-2025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4C7B77-291A-4CE8-BC6B-429E3B8AF21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1011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F5ED8-8012-4097-B104-A2555D883D82}" type="datetimeFigureOut">
              <a:rPr lang="en-IN" smtClean="0"/>
              <a:t>09-03-2025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4C7B77-291A-4CE8-BC6B-429E3B8AF211}" type="slidenum">
              <a:rPr lang="en-IN" smtClean="0"/>
              <a:t>‹#›</a:t>
            </a:fld>
            <a:endParaRPr lang="en-IN"/>
          </a:p>
        </p:txBody>
      </p:sp>
    </p:spTree>
    <p:extLst>
      <p:ext uri="{BB962C8B-B14F-4D97-AF65-F5344CB8AC3E}">
        <p14:creationId xmlns:p14="http://schemas.microsoft.com/office/powerpoint/2010/main" val="1378408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F5ED8-8012-4097-B104-A2555D883D82}" type="datetimeFigureOut">
              <a:rPr lang="en-IN" smtClean="0"/>
              <a:t>09-03-2025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4C7B77-291A-4CE8-BC6B-429E3B8AF211}"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7078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DF5ED8-8012-4097-B104-A2555D883D82}" type="datetimeFigureOut">
              <a:rPr lang="en-IN" smtClean="0"/>
              <a:t>09-03-2025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4C7B77-291A-4CE8-BC6B-429E3B8AF211}" type="slidenum">
              <a:rPr lang="en-IN" smtClean="0"/>
              <a:t>‹#›</a:t>
            </a:fld>
            <a:endParaRPr lang="en-IN"/>
          </a:p>
        </p:txBody>
      </p:sp>
    </p:spTree>
    <p:extLst>
      <p:ext uri="{BB962C8B-B14F-4D97-AF65-F5344CB8AC3E}">
        <p14:creationId xmlns:p14="http://schemas.microsoft.com/office/powerpoint/2010/main" val="2808226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DF5ED8-8012-4097-B104-A2555D883D82}" type="datetimeFigureOut">
              <a:rPr lang="en-IN" smtClean="0"/>
              <a:t>09-03-2025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4C7B77-291A-4CE8-BC6B-429E3B8AF211}" type="slidenum">
              <a:rPr lang="en-IN" smtClean="0"/>
              <a:t>‹#›</a:t>
            </a:fld>
            <a:endParaRPr lang="en-IN"/>
          </a:p>
        </p:txBody>
      </p:sp>
    </p:spTree>
    <p:extLst>
      <p:ext uri="{BB962C8B-B14F-4D97-AF65-F5344CB8AC3E}">
        <p14:creationId xmlns:p14="http://schemas.microsoft.com/office/powerpoint/2010/main" val="3745308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DF5ED8-8012-4097-B104-A2555D883D82}" type="datetimeFigureOut">
              <a:rPr lang="en-IN" smtClean="0"/>
              <a:t>09-03-2025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4C7B77-291A-4CE8-BC6B-429E3B8AF211}" type="slidenum">
              <a:rPr lang="en-IN" smtClean="0"/>
              <a:t>‹#›</a:t>
            </a:fld>
            <a:endParaRPr lang="en-IN"/>
          </a:p>
        </p:txBody>
      </p:sp>
    </p:spTree>
    <p:extLst>
      <p:ext uri="{BB962C8B-B14F-4D97-AF65-F5344CB8AC3E}">
        <p14:creationId xmlns:p14="http://schemas.microsoft.com/office/powerpoint/2010/main" val="3926895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2DF5ED8-8012-4097-B104-A2555D883D82}" type="datetimeFigureOut">
              <a:rPr lang="en-IN" smtClean="0"/>
              <a:t>09-03-2025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1B4C7B77-291A-4CE8-BC6B-429E3B8AF211}" type="slidenum">
              <a:rPr lang="en-IN" smtClean="0"/>
              <a:t>‹#›</a:t>
            </a:fld>
            <a:endParaRPr lang="en-IN"/>
          </a:p>
        </p:txBody>
      </p:sp>
    </p:spTree>
    <p:extLst>
      <p:ext uri="{BB962C8B-B14F-4D97-AF65-F5344CB8AC3E}">
        <p14:creationId xmlns:p14="http://schemas.microsoft.com/office/powerpoint/2010/main" val="749526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2DF5ED8-8012-4097-B104-A2555D883D82}" type="datetimeFigureOut">
              <a:rPr lang="en-IN" smtClean="0"/>
              <a:t>09-03-2025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B4C7B77-291A-4CE8-BC6B-429E3B8AF211}" type="slidenum">
              <a:rPr lang="en-IN" smtClean="0"/>
              <a:t>‹#›</a:t>
            </a:fld>
            <a:endParaRPr lang="en-IN"/>
          </a:p>
        </p:txBody>
      </p:sp>
    </p:spTree>
    <p:extLst>
      <p:ext uri="{BB962C8B-B14F-4D97-AF65-F5344CB8AC3E}">
        <p14:creationId xmlns:p14="http://schemas.microsoft.com/office/powerpoint/2010/main" val="2694754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F5ED8-8012-4097-B104-A2555D883D82}" type="datetimeFigureOut">
              <a:rPr lang="en-IN" smtClean="0"/>
              <a:t>09-03-2025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4C7B77-291A-4CE8-BC6B-429E3B8AF211}" type="slidenum">
              <a:rPr lang="en-IN" smtClean="0"/>
              <a:t>‹#›</a:t>
            </a:fld>
            <a:endParaRPr lang="en-IN"/>
          </a:p>
        </p:txBody>
      </p:sp>
    </p:spTree>
    <p:extLst>
      <p:ext uri="{BB962C8B-B14F-4D97-AF65-F5344CB8AC3E}">
        <p14:creationId xmlns:p14="http://schemas.microsoft.com/office/powerpoint/2010/main" val="2042529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F5ED8-8012-4097-B104-A2555D883D82}" type="datetimeFigureOut">
              <a:rPr lang="en-IN" smtClean="0"/>
              <a:t>09-03-2025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4C7B77-291A-4CE8-BC6B-429E3B8AF211}" type="slidenum">
              <a:rPr lang="en-IN" smtClean="0"/>
              <a:t>‹#›</a:t>
            </a:fld>
            <a:endParaRPr lang="en-IN"/>
          </a:p>
        </p:txBody>
      </p:sp>
    </p:spTree>
    <p:extLst>
      <p:ext uri="{BB962C8B-B14F-4D97-AF65-F5344CB8AC3E}">
        <p14:creationId xmlns:p14="http://schemas.microsoft.com/office/powerpoint/2010/main" val="1148759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DF5ED8-8012-4097-B104-A2555D883D82}" type="datetimeFigureOut">
              <a:rPr lang="en-IN" smtClean="0"/>
              <a:t>09-03-2025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4C7B77-291A-4CE8-BC6B-429E3B8AF211}" type="slidenum">
              <a:rPr lang="en-IN" smtClean="0"/>
              <a:t>‹#›</a:t>
            </a:fld>
            <a:endParaRPr lang="en-IN"/>
          </a:p>
        </p:txBody>
      </p:sp>
    </p:spTree>
    <p:extLst>
      <p:ext uri="{BB962C8B-B14F-4D97-AF65-F5344CB8AC3E}">
        <p14:creationId xmlns:p14="http://schemas.microsoft.com/office/powerpoint/2010/main" val="1733040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2DF5ED8-8012-4097-B104-A2555D883D82}" type="datetimeFigureOut">
              <a:rPr lang="en-IN" smtClean="0"/>
              <a:t>09-03-2025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B4C7B77-291A-4CE8-BC6B-429E3B8AF211}"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3115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E9999-D0EE-47F2-82EF-81B3A5DC69E6}"/>
              </a:ext>
            </a:extLst>
          </p:cNvPr>
          <p:cNvSpPr>
            <a:spLocks noGrp="1"/>
          </p:cNvSpPr>
          <p:nvPr>
            <p:ph type="ctrTitle"/>
          </p:nvPr>
        </p:nvSpPr>
        <p:spPr>
          <a:xfrm>
            <a:off x="894735" y="758952"/>
            <a:ext cx="10260945" cy="1643428"/>
          </a:xfrm>
        </p:spPr>
        <p:txBody>
          <a:bodyPr/>
          <a:lstStyle/>
          <a:p>
            <a:r>
              <a:rPr lang="en-IN" dirty="0">
                <a:latin typeface="Harlow Solid Italic" panose="04030604020F02020D02" pitchFamily="82" charset="0"/>
              </a:rPr>
              <a:t>Style space</a:t>
            </a:r>
          </a:p>
        </p:txBody>
      </p:sp>
      <p:sp>
        <p:nvSpPr>
          <p:cNvPr id="3" name="Subtitle 2">
            <a:extLst>
              <a:ext uri="{FF2B5EF4-FFF2-40B4-BE49-F238E27FC236}">
                <a16:creationId xmlns:a16="http://schemas.microsoft.com/office/drawing/2014/main" id="{88D45375-7B37-1A9D-CCD5-D6D698255B3C}"/>
              </a:ext>
            </a:extLst>
          </p:cNvPr>
          <p:cNvSpPr>
            <a:spLocks noGrp="1"/>
          </p:cNvSpPr>
          <p:nvPr>
            <p:ph type="subTitle" idx="1"/>
          </p:nvPr>
        </p:nvSpPr>
        <p:spPr>
          <a:xfrm>
            <a:off x="1100051" y="2310580"/>
            <a:ext cx="10058400" cy="3788467"/>
          </a:xfrm>
        </p:spPr>
        <p:txBody>
          <a:bodyPr>
            <a:normAutofit fontScale="92500" lnSpcReduction="10000"/>
          </a:bodyPr>
          <a:lstStyle/>
          <a:p>
            <a:r>
              <a:rPr lang="en-IN" dirty="0"/>
              <a:t>                   -The art &amp;craft of living</a:t>
            </a:r>
          </a:p>
          <a:p>
            <a:endParaRPr lang="en-IN" u="sng" dirty="0">
              <a:solidFill>
                <a:schemeClr val="tx1"/>
              </a:solidFill>
              <a:latin typeface="Bahnschrift" panose="020B0502040204020203" pitchFamily="34" charset="0"/>
            </a:endParaRPr>
          </a:p>
          <a:p>
            <a:endParaRPr lang="en-IN" u="sng" dirty="0">
              <a:solidFill>
                <a:schemeClr val="tx1"/>
              </a:solidFill>
              <a:latin typeface="Bahnschrift" panose="020B0502040204020203" pitchFamily="34" charset="0"/>
            </a:endParaRPr>
          </a:p>
          <a:p>
            <a:endParaRPr lang="en-IN" b="1" u="sng" dirty="0">
              <a:solidFill>
                <a:schemeClr val="tx1"/>
              </a:solidFill>
              <a:latin typeface="Bahnschrift" panose="020B0502040204020203" pitchFamily="34" charset="0"/>
            </a:endParaRPr>
          </a:p>
          <a:p>
            <a:r>
              <a:rPr lang="en-IN" b="1" u="sng" dirty="0">
                <a:solidFill>
                  <a:schemeClr val="tx1"/>
                </a:solidFill>
                <a:latin typeface="Bahnschrift" panose="020B0502040204020203" pitchFamily="34" charset="0"/>
              </a:rPr>
              <a:t>Team members:</a:t>
            </a:r>
            <a:endParaRPr lang="en-IN" sz="1900" u="sng" dirty="0">
              <a:solidFill>
                <a:schemeClr val="tx1"/>
              </a:solidFill>
              <a:latin typeface="Bahnschrift" panose="020B0502040204020203" pitchFamily="34" charset="0"/>
            </a:endParaRPr>
          </a:p>
          <a:p>
            <a:pPr marL="342900" indent="-342900">
              <a:buFont typeface="Arial" panose="020B0604020202020204" pitchFamily="34" charset="0"/>
              <a:buChar char="•"/>
            </a:pPr>
            <a:r>
              <a:rPr lang="en-IN" sz="1900" u="sng" dirty="0" err="1">
                <a:solidFill>
                  <a:schemeClr val="tx1"/>
                </a:solidFill>
                <a:latin typeface="Bahnschrift" panose="020B0502040204020203" pitchFamily="34" charset="0"/>
              </a:rPr>
              <a:t>k.Ratna</a:t>
            </a:r>
            <a:r>
              <a:rPr lang="en-IN" sz="1900" u="sng" dirty="0">
                <a:solidFill>
                  <a:schemeClr val="tx1"/>
                </a:solidFill>
                <a:latin typeface="Bahnschrift" panose="020B0502040204020203" pitchFamily="34" charset="0"/>
              </a:rPr>
              <a:t> kumari</a:t>
            </a:r>
          </a:p>
          <a:p>
            <a:pPr marL="342900" indent="-342900">
              <a:buFont typeface="Arial" panose="020B0604020202020204" pitchFamily="34" charset="0"/>
              <a:buChar char="•"/>
            </a:pPr>
            <a:r>
              <a:rPr lang="en-IN" sz="1900" u="sng" dirty="0" err="1">
                <a:solidFill>
                  <a:schemeClr val="tx1"/>
                </a:solidFill>
                <a:latin typeface="Bahnschrift" panose="020B0502040204020203" pitchFamily="34" charset="0"/>
              </a:rPr>
              <a:t>k.Vani</a:t>
            </a:r>
            <a:r>
              <a:rPr lang="en-IN" sz="1900" u="sng" dirty="0">
                <a:solidFill>
                  <a:schemeClr val="tx1"/>
                </a:solidFill>
                <a:latin typeface="Bahnschrift" panose="020B0502040204020203" pitchFamily="34" charset="0"/>
              </a:rPr>
              <a:t> Chandrika</a:t>
            </a:r>
          </a:p>
          <a:p>
            <a:pPr marL="342900" indent="-342900">
              <a:buFont typeface="Arial" panose="020B0604020202020204" pitchFamily="34" charset="0"/>
              <a:buChar char="•"/>
            </a:pPr>
            <a:r>
              <a:rPr lang="en-IN" sz="1900" u="sng" dirty="0" err="1">
                <a:solidFill>
                  <a:schemeClr val="tx1"/>
                </a:solidFill>
                <a:latin typeface="Bahnschrift" panose="020B0502040204020203" pitchFamily="34" charset="0"/>
              </a:rPr>
              <a:t>K.amrutha</a:t>
            </a:r>
            <a:endParaRPr lang="en-IN" sz="1900" u="sng" dirty="0">
              <a:solidFill>
                <a:schemeClr val="tx1"/>
              </a:solidFill>
              <a:latin typeface="Bahnschrift" panose="020B0502040204020203" pitchFamily="34" charset="0"/>
            </a:endParaRPr>
          </a:p>
          <a:p>
            <a:pPr marL="342900" indent="-342900">
              <a:buFont typeface="Arial" panose="020B0604020202020204" pitchFamily="34" charset="0"/>
              <a:buChar char="•"/>
            </a:pPr>
            <a:r>
              <a:rPr lang="en-IN" sz="1900" u="sng" dirty="0" err="1">
                <a:solidFill>
                  <a:schemeClr val="tx1"/>
                </a:solidFill>
                <a:latin typeface="Bahnschrift" panose="020B0502040204020203" pitchFamily="34" charset="0"/>
              </a:rPr>
              <a:t>k.Eesha</a:t>
            </a:r>
            <a:r>
              <a:rPr lang="en-IN" sz="1900" u="sng" dirty="0">
                <a:solidFill>
                  <a:schemeClr val="tx1"/>
                </a:solidFill>
                <a:latin typeface="Bahnschrift" panose="020B0502040204020203" pitchFamily="34" charset="0"/>
              </a:rPr>
              <a:t> </a:t>
            </a:r>
            <a:r>
              <a:rPr lang="en-IN" sz="1900" u="sng" dirty="0" err="1">
                <a:solidFill>
                  <a:schemeClr val="tx1"/>
                </a:solidFill>
                <a:latin typeface="Bahnschrift" panose="020B0502040204020203" pitchFamily="34" charset="0"/>
              </a:rPr>
              <a:t>manogna</a:t>
            </a:r>
            <a:endParaRPr lang="en-IN" sz="1900" u="sng" dirty="0">
              <a:solidFill>
                <a:schemeClr val="tx1"/>
              </a:solidFill>
              <a:latin typeface="Bahnschrift" panose="020B0502040204020203" pitchFamily="34" charset="0"/>
            </a:endParaRPr>
          </a:p>
          <a:p>
            <a:pPr marL="342900" indent="-342900">
              <a:buFont typeface="Arial" panose="020B0604020202020204" pitchFamily="34" charset="0"/>
              <a:buChar char="•"/>
            </a:pPr>
            <a:endParaRPr lang="en-IN" sz="1900" u="sng" dirty="0">
              <a:solidFill>
                <a:schemeClr val="tx1"/>
              </a:solidFill>
              <a:latin typeface="Bahnschrift" panose="020B0502040204020203" pitchFamily="34" charset="0"/>
            </a:endParaRPr>
          </a:p>
          <a:p>
            <a:pPr marL="342900" indent="-342900">
              <a:buFont typeface="Arial" panose="020B0604020202020204" pitchFamily="34" charset="0"/>
              <a:buChar char="•"/>
            </a:pPr>
            <a:endParaRPr lang="en-IN" sz="1900" u="sng" dirty="0">
              <a:solidFill>
                <a:schemeClr val="tx1"/>
              </a:solidFill>
              <a:latin typeface="Bahnschrift" panose="020B0502040204020203" pitchFamily="34" charset="0"/>
            </a:endParaRPr>
          </a:p>
        </p:txBody>
      </p:sp>
    </p:spTree>
    <p:extLst>
      <p:ext uri="{BB962C8B-B14F-4D97-AF65-F5344CB8AC3E}">
        <p14:creationId xmlns:p14="http://schemas.microsoft.com/office/powerpoint/2010/main" val="2054908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9CF39-C238-5752-A751-123F4C537145}"/>
              </a:ext>
            </a:extLst>
          </p:cNvPr>
          <p:cNvSpPr>
            <a:spLocks noGrp="1"/>
          </p:cNvSpPr>
          <p:nvPr>
            <p:ph type="title"/>
          </p:nvPr>
        </p:nvSpPr>
        <p:spPr/>
        <p:txBody>
          <a:bodyPr/>
          <a:lstStyle/>
          <a:p>
            <a:r>
              <a:rPr lang="en-IN" b="1" u="sng" dirty="0">
                <a:solidFill>
                  <a:schemeClr val="tx1"/>
                </a:solidFill>
                <a:latin typeface="Algerian" panose="04020705040A02060702" pitchFamily="82" charset="0"/>
              </a:rPr>
              <a:t>Problem statement</a:t>
            </a:r>
          </a:p>
        </p:txBody>
      </p:sp>
      <p:sp>
        <p:nvSpPr>
          <p:cNvPr id="3" name="Content Placeholder 2">
            <a:extLst>
              <a:ext uri="{FF2B5EF4-FFF2-40B4-BE49-F238E27FC236}">
                <a16:creationId xmlns:a16="http://schemas.microsoft.com/office/drawing/2014/main" id="{276B4E6C-68EB-7D7F-7537-4BEBF08EA587}"/>
              </a:ext>
            </a:extLst>
          </p:cNvPr>
          <p:cNvSpPr>
            <a:spLocks noGrp="1"/>
          </p:cNvSpPr>
          <p:nvPr>
            <p:ph idx="1"/>
          </p:nvPr>
        </p:nvSpPr>
        <p:spPr>
          <a:xfrm>
            <a:off x="1097280" y="1845734"/>
            <a:ext cx="10058400" cy="4387918"/>
          </a:xfrm>
        </p:spPr>
        <p:txBody>
          <a:bodyPr/>
          <a:lstStyle/>
          <a:p>
            <a:r>
              <a:rPr lang="en-US" dirty="0">
                <a:solidFill>
                  <a:schemeClr val="tx1"/>
                </a:solidFill>
              </a:rPr>
              <a:t>Finding verified designers and personalized interior designs is challenging. Existing platforms lack seamless designer-client collaboration and customization. </a:t>
            </a:r>
            <a:r>
              <a:rPr lang="en-US" b="1" dirty="0">
                <a:solidFill>
                  <a:schemeClr val="tx1"/>
                </a:solidFill>
              </a:rPr>
              <a:t>Style Spacing</a:t>
            </a:r>
            <a:r>
              <a:rPr lang="en-US" dirty="0">
                <a:solidFill>
                  <a:schemeClr val="tx1"/>
                </a:solidFill>
              </a:rPr>
              <a:t> bridges this gap by offering </a:t>
            </a:r>
            <a:r>
              <a:rPr lang="en-US" b="1" dirty="0">
                <a:solidFill>
                  <a:schemeClr val="tx1"/>
                </a:solidFill>
              </a:rPr>
              <a:t>room-specific designs, designer listings, and tailored styling</a:t>
            </a:r>
            <a:r>
              <a:rPr lang="en-US" dirty="0">
                <a:solidFill>
                  <a:schemeClr val="tx1"/>
                </a:solidFill>
              </a:rPr>
              <a:t>. Our platform ensures a seamless experience for both clients and designers.</a:t>
            </a:r>
          </a:p>
          <a:p>
            <a:r>
              <a:rPr lang="en-US" b="1" u="sng" dirty="0">
                <a:solidFill>
                  <a:schemeClr val="tx1"/>
                </a:solidFill>
                <a:latin typeface="Algerian" panose="04020705040A02060702" pitchFamily="82" charset="0"/>
              </a:rPr>
              <a:t>Description</a:t>
            </a:r>
          </a:p>
          <a:p>
            <a:r>
              <a:rPr lang="en-US" dirty="0">
                <a:solidFill>
                  <a:schemeClr val="tx1"/>
                </a:solidFill>
              </a:rPr>
              <a:t>The interior design industry lacks a </a:t>
            </a:r>
            <a:r>
              <a:rPr lang="en-US" b="1" dirty="0">
                <a:solidFill>
                  <a:schemeClr val="tx1"/>
                </a:solidFill>
              </a:rPr>
              <a:t>centralized platform</a:t>
            </a:r>
            <a:r>
              <a:rPr lang="en-US" dirty="0">
                <a:solidFill>
                  <a:schemeClr val="tx1"/>
                </a:solidFill>
              </a:rPr>
              <a:t> for verified designers and personalized styling. Clients struggle to find </a:t>
            </a:r>
            <a:r>
              <a:rPr lang="en-US" b="1" dirty="0">
                <a:solidFill>
                  <a:schemeClr val="tx1"/>
                </a:solidFill>
              </a:rPr>
              <a:t>trusted professionals</a:t>
            </a:r>
            <a:r>
              <a:rPr lang="en-US" dirty="0">
                <a:solidFill>
                  <a:schemeClr val="tx1"/>
                </a:solidFill>
              </a:rPr>
              <a:t> and explore </a:t>
            </a:r>
            <a:r>
              <a:rPr lang="en-US" b="1" dirty="0">
                <a:solidFill>
                  <a:schemeClr val="tx1"/>
                </a:solidFill>
              </a:rPr>
              <a:t>room-specific designs</a:t>
            </a:r>
            <a:r>
              <a:rPr lang="en-US" dirty="0">
                <a:solidFill>
                  <a:schemeClr val="tx1"/>
                </a:solidFill>
              </a:rPr>
              <a:t> tailored to their needs. Designers face challenges in </a:t>
            </a:r>
            <a:r>
              <a:rPr lang="en-US" b="1" dirty="0">
                <a:solidFill>
                  <a:schemeClr val="tx1"/>
                </a:solidFill>
              </a:rPr>
              <a:t>showcasing their work and connecting with potential clients</a:t>
            </a:r>
            <a:r>
              <a:rPr lang="en-US" dirty="0">
                <a:solidFill>
                  <a:schemeClr val="tx1"/>
                </a:solidFill>
              </a:rPr>
              <a:t>. Existing platforms offer </a:t>
            </a:r>
            <a:r>
              <a:rPr lang="en-US" b="1" dirty="0">
                <a:solidFill>
                  <a:schemeClr val="tx1"/>
                </a:solidFill>
              </a:rPr>
              <a:t>limited customization and fragmented services</a:t>
            </a:r>
            <a:r>
              <a:rPr lang="en-US" dirty="0">
                <a:solidFill>
                  <a:schemeClr val="tx1"/>
                </a:solidFill>
              </a:rPr>
              <a:t>, making collaboration difficult. </a:t>
            </a:r>
            <a:r>
              <a:rPr lang="en-US" b="1" dirty="0">
                <a:solidFill>
                  <a:schemeClr val="tx1"/>
                </a:solidFill>
              </a:rPr>
              <a:t>Style Spacing bridges this gap</a:t>
            </a:r>
            <a:r>
              <a:rPr lang="en-US" dirty="0">
                <a:solidFill>
                  <a:schemeClr val="tx1"/>
                </a:solidFill>
              </a:rPr>
              <a:t> by providing a </a:t>
            </a:r>
            <a:r>
              <a:rPr lang="en-US" b="1" dirty="0">
                <a:solidFill>
                  <a:schemeClr val="tx1"/>
                </a:solidFill>
              </a:rPr>
              <a:t>one-stop solution</a:t>
            </a:r>
            <a:r>
              <a:rPr lang="en-US" dirty="0">
                <a:solidFill>
                  <a:schemeClr val="tx1"/>
                </a:solidFill>
              </a:rPr>
              <a:t> for seamless designer-client interaction, tailored designs, and enhanced accessibility.</a:t>
            </a:r>
            <a:endParaRPr lang="en-US" b="1" u="sng" dirty="0">
              <a:solidFill>
                <a:schemeClr val="tx1"/>
              </a:solidFill>
              <a:latin typeface="Algerian" panose="04020705040A02060702" pitchFamily="82" charset="0"/>
            </a:endParaRPr>
          </a:p>
          <a:p>
            <a:endParaRPr lang="en-US" b="1" u="sng" dirty="0">
              <a:latin typeface="Algerian" panose="04020705040A02060702" pitchFamily="82" charset="0"/>
            </a:endParaRPr>
          </a:p>
          <a:p>
            <a:endParaRPr lang="en-IN" b="1" dirty="0">
              <a:latin typeface="Algerian" panose="04020705040A02060702" pitchFamily="82" charset="0"/>
            </a:endParaRPr>
          </a:p>
        </p:txBody>
      </p:sp>
    </p:spTree>
    <p:extLst>
      <p:ext uri="{BB962C8B-B14F-4D97-AF65-F5344CB8AC3E}">
        <p14:creationId xmlns:p14="http://schemas.microsoft.com/office/powerpoint/2010/main" val="2938642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C66A041D-0526-D698-BB02-323AB4D69117}"/>
              </a:ext>
            </a:extLst>
          </p:cNvPr>
          <p:cNvSpPr>
            <a:spLocks noGrp="1" noChangeArrowheads="1"/>
          </p:cNvSpPr>
          <p:nvPr>
            <p:ph type="title"/>
          </p:nvPr>
        </p:nvSpPr>
        <p:spPr bwMode="auto">
          <a:xfrm>
            <a:off x="961164" y="1188636"/>
            <a:ext cx="1026967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3200" b="1" i="0" u="none" strike="noStrike" cap="none" normalizeH="0" baseline="0" dirty="0">
                <a:ln>
                  <a:noFill/>
                </a:ln>
                <a:solidFill>
                  <a:schemeClr val="tx1"/>
                </a:solidFill>
                <a:effectLst/>
                <a:latin typeface="Algerian" panose="04020705040A02060702" pitchFamily="82" charset="0"/>
              </a:rPr>
              <a:t>Technologies used:</a:t>
            </a:r>
            <a:br>
              <a:rPr kumimoji="0" lang="en-US" altLang="en-US" sz="1800" b="1" i="0" u="none" strike="noStrike" cap="none" normalizeH="0" baseline="0" dirty="0">
                <a:ln>
                  <a:noFill/>
                </a:ln>
                <a:solidFill>
                  <a:schemeClr val="tx1"/>
                </a:solidFill>
                <a:effectLst/>
                <a:latin typeface="Arial" panose="020B0604020202020204" pitchFamily="34" charset="0"/>
              </a:rPr>
            </a:br>
            <a:r>
              <a:rPr kumimoji="0" lang="en-US" altLang="en-US" sz="1800" b="1" i="0" u="sng" strike="noStrike" cap="none" normalizeH="0" baseline="0" dirty="0">
                <a:ln>
                  <a:noFill/>
                </a:ln>
                <a:solidFill>
                  <a:schemeClr val="tx1"/>
                </a:solidFill>
                <a:effectLst/>
                <a:latin typeface="Arial" panose="020B0604020202020204" pitchFamily="34" charset="0"/>
              </a:rPr>
              <a:t>HTML (</a:t>
            </a:r>
            <a:r>
              <a:rPr kumimoji="0" lang="en-US" altLang="en-US" sz="1800" b="1" i="0" u="sng" strike="noStrike" cap="none" normalizeH="0" baseline="0" dirty="0" err="1">
                <a:ln>
                  <a:noFill/>
                </a:ln>
                <a:solidFill>
                  <a:schemeClr val="tx1"/>
                </a:solidFill>
                <a:effectLst/>
                <a:latin typeface="Arial" panose="020B0604020202020204" pitchFamily="34" charset="0"/>
              </a:rPr>
              <a:t>HyperText</a:t>
            </a:r>
            <a:r>
              <a:rPr kumimoji="0" lang="en-US" altLang="en-US" sz="1800" b="1" i="0" u="sng" strike="noStrike" cap="none" normalizeH="0" baseline="0" dirty="0">
                <a:ln>
                  <a:noFill/>
                </a:ln>
                <a:solidFill>
                  <a:schemeClr val="tx1"/>
                </a:solidFill>
                <a:effectLst/>
                <a:latin typeface="Arial" panose="020B0604020202020204" pitchFamily="34" charset="0"/>
              </a:rPr>
              <a:t> Markup Language)</a:t>
            </a:r>
            <a:endParaRPr kumimoji="0" lang="en-US" altLang="en-US" sz="1800" b="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Defines the </a:t>
            </a:r>
            <a:r>
              <a:rPr kumimoji="0" lang="en-US" altLang="en-US" sz="1800" b="1" i="0" u="none" strike="noStrike" cap="none" normalizeH="0" baseline="0" dirty="0">
                <a:ln>
                  <a:noFill/>
                </a:ln>
                <a:solidFill>
                  <a:schemeClr val="tx1"/>
                </a:solidFill>
                <a:effectLst/>
                <a:latin typeface="Arial" panose="020B0604020202020204" pitchFamily="34" charset="0"/>
              </a:rPr>
              <a:t>structure</a:t>
            </a:r>
            <a:r>
              <a:rPr kumimoji="0" lang="en-US" altLang="en-US" sz="1800" b="0" i="0" u="none" strike="noStrike" cap="none" normalizeH="0" baseline="0" dirty="0">
                <a:ln>
                  <a:noFill/>
                </a:ln>
                <a:solidFill>
                  <a:schemeClr val="tx1"/>
                </a:solidFill>
                <a:effectLst/>
                <a:latin typeface="Arial" panose="020B0604020202020204" pitchFamily="34" charset="0"/>
              </a:rPr>
              <a:t> of web pages, such as headers, sections, and navigation.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Creates the layout for </a:t>
            </a:r>
            <a:r>
              <a:rPr kumimoji="0" lang="en-US" altLang="en-US" sz="1800" b="1" i="0" u="none" strike="noStrike" cap="none" normalizeH="0" baseline="0" dirty="0">
                <a:ln>
                  <a:noFill/>
                </a:ln>
                <a:solidFill>
                  <a:schemeClr val="tx1"/>
                </a:solidFill>
                <a:effectLst/>
                <a:latin typeface="Arial" panose="020B0604020202020204" pitchFamily="34" charset="0"/>
              </a:rPr>
              <a:t>room-specific designs, designer profiles, and customization options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Forms are used for </a:t>
            </a:r>
            <a:r>
              <a:rPr kumimoji="0" lang="en-US" altLang="en-US" sz="1800" b="1" i="0" u="none" strike="noStrike" cap="none" normalizeH="0" baseline="0" dirty="0">
                <a:ln>
                  <a:noFill/>
                </a:ln>
                <a:solidFill>
                  <a:schemeClr val="tx1"/>
                </a:solidFill>
                <a:effectLst/>
                <a:latin typeface="Arial" panose="020B0604020202020204" pitchFamily="34" charset="0"/>
              </a:rPr>
              <a:t>user sign-ups, designer registrations, and contact requests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Arial" panose="020B0604020202020204" pitchFamily="34" charset="0"/>
              </a:rPr>
              <a:t>CSS (Cascading Style Sheets)</a:t>
            </a:r>
            <a:endParaRPr kumimoji="0" lang="en-US" altLang="en-US" sz="1800" b="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Enhances the </a:t>
            </a:r>
            <a:r>
              <a:rPr kumimoji="0" lang="en-US" altLang="en-US" sz="1800" b="1" i="0" u="none" strike="noStrike" cap="none" normalizeH="0" baseline="0" dirty="0">
                <a:ln>
                  <a:noFill/>
                </a:ln>
                <a:solidFill>
                  <a:schemeClr val="tx1"/>
                </a:solidFill>
                <a:effectLst/>
                <a:latin typeface="Arial" panose="020B0604020202020204" pitchFamily="34" charset="0"/>
              </a:rPr>
              <a:t>visual design</a:t>
            </a:r>
            <a:r>
              <a:rPr kumimoji="0" lang="en-US" altLang="en-US" sz="1800" b="0" i="0" u="none" strike="noStrike" cap="none" normalizeH="0" baseline="0" dirty="0">
                <a:ln>
                  <a:noFill/>
                </a:ln>
                <a:solidFill>
                  <a:schemeClr val="tx1"/>
                </a:solidFill>
                <a:effectLst/>
                <a:latin typeface="Arial" panose="020B0604020202020204" pitchFamily="34" charset="0"/>
              </a:rPr>
              <a:t> by styling elements like fonts, colors, and layouts.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Implements a </a:t>
            </a:r>
            <a:r>
              <a:rPr kumimoji="0" lang="en-US" altLang="en-US" sz="1800" b="1" i="0" u="none" strike="noStrike" cap="none" normalizeH="0" baseline="0" dirty="0">
                <a:ln>
                  <a:noFill/>
                </a:ln>
                <a:solidFill>
                  <a:schemeClr val="tx1"/>
                </a:solidFill>
                <a:effectLst/>
                <a:latin typeface="Arial" panose="020B0604020202020204" pitchFamily="34" charset="0"/>
              </a:rPr>
              <a:t>modern and UI</a:t>
            </a:r>
            <a:r>
              <a:rPr kumimoji="0" lang="en-US" altLang="en-US" sz="1800" b="0" i="0" u="none" strike="noStrike" cap="none" normalizeH="0" baseline="0" dirty="0">
                <a:ln>
                  <a:noFill/>
                </a:ln>
                <a:solidFill>
                  <a:schemeClr val="tx1"/>
                </a:solidFill>
                <a:effectLst/>
                <a:latin typeface="Arial" panose="020B0604020202020204" pitchFamily="34" charset="0"/>
              </a:rPr>
              <a:t>, ensuring a smooth experience across devices.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Provides </a:t>
            </a:r>
            <a:r>
              <a:rPr kumimoji="0" lang="en-US" altLang="en-US" sz="1800" b="1" i="0" u="none" strike="noStrike" cap="none" normalizeH="0" baseline="0" dirty="0">
                <a:ln>
                  <a:noFill/>
                </a:ln>
                <a:solidFill>
                  <a:schemeClr val="tx1"/>
                </a:solidFill>
                <a:effectLst/>
                <a:latin typeface="Arial" panose="020B0604020202020204" pitchFamily="34" charset="0"/>
              </a:rPr>
              <a:t>grid and flexbox layouts</a:t>
            </a:r>
            <a:r>
              <a:rPr kumimoji="0" lang="en-US" altLang="en-US" sz="1800" b="0" i="0" u="none" strike="noStrike" cap="none" normalizeH="0" baseline="0" dirty="0">
                <a:ln>
                  <a:noFill/>
                </a:ln>
                <a:solidFill>
                  <a:schemeClr val="tx1"/>
                </a:solidFill>
                <a:effectLst/>
                <a:latin typeface="Arial" panose="020B0604020202020204" pitchFamily="34" charset="0"/>
              </a:rPr>
              <a:t> for displaying designer portfolios and design inspirations attractively.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sng" strike="noStrike" cap="none" normalizeH="0" baseline="0" dirty="0">
                <a:ln>
                  <a:noFill/>
                </a:ln>
                <a:solidFill>
                  <a:schemeClr val="tx1"/>
                </a:solidFill>
                <a:effectLst/>
                <a:latin typeface="Arial" panose="020B0604020202020204" pitchFamily="34" charset="0"/>
              </a:rPr>
              <a:t>JavaScript (JS)</a:t>
            </a:r>
            <a:endParaRPr kumimoji="0" lang="en-US" altLang="en-US" sz="1800" b="0" i="0" u="sng"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Adds </a:t>
            </a:r>
            <a:r>
              <a:rPr kumimoji="0" lang="en-US" altLang="en-US" sz="1800" b="1" i="0" u="none" strike="noStrike" cap="none" normalizeH="0" baseline="0" dirty="0">
                <a:ln>
                  <a:noFill/>
                </a:ln>
                <a:solidFill>
                  <a:schemeClr val="tx1"/>
                </a:solidFill>
                <a:effectLst/>
                <a:latin typeface="Arial" panose="020B0604020202020204" pitchFamily="34" charset="0"/>
              </a:rPr>
              <a:t>interactivity</a:t>
            </a:r>
            <a:r>
              <a:rPr kumimoji="0" lang="en-US" altLang="en-US" sz="1800" b="0" i="0" u="none" strike="noStrike" cap="none" normalizeH="0" baseline="0" dirty="0">
                <a:ln>
                  <a:noFill/>
                </a:ln>
                <a:solidFill>
                  <a:schemeClr val="tx1"/>
                </a:solidFill>
                <a:effectLst/>
                <a:latin typeface="Arial" panose="020B0604020202020204" pitchFamily="34" charset="0"/>
              </a:rPr>
              <a:t> and enhances user experience.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Enables </a:t>
            </a:r>
            <a:r>
              <a:rPr kumimoji="0" lang="en-US" altLang="en-US" sz="1800" b="1" i="0" u="none" strike="noStrike" cap="none" normalizeH="0" baseline="0" dirty="0">
                <a:ln>
                  <a:noFill/>
                </a:ln>
                <a:solidFill>
                  <a:schemeClr val="tx1"/>
                </a:solidFill>
                <a:effectLst/>
                <a:latin typeface="Arial" panose="020B0604020202020204" pitchFamily="34" charset="0"/>
              </a:rPr>
              <a:t>dynamic filtering and searching</a:t>
            </a:r>
            <a:r>
              <a:rPr kumimoji="0" lang="en-US" altLang="en-US" sz="1800" b="0" i="0" u="none" strike="noStrike" cap="none" normalizeH="0" baseline="0" dirty="0">
                <a:ln>
                  <a:noFill/>
                </a:ln>
                <a:solidFill>
                  <a:schemeClr val="tx1"/>
                </a:solidFill>
                <a:effectLst/>
                <a:latin typeface="Arial" panose="020B0604020202020204" pitchFamily="34" charset="0"/>
              </a:rPr>
              <a:t> of room designs and designer profiles.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Handles </a:t>
            </a:r>
            <a:r>
              <a:rPr kumimoji="0" lang="en-US" altLang="en-US" sz="1800" b="1" i="0" u="none" strike="noStrike" cap="none" normalizeH="0" baseline="0" dirty="0">
                <a:ln>
                  <a:noFill/>
                </a:ln>
                <a:solidFill>
                  <a:schemeClr val="tx1"/>
                </a:solidFill>
                <a:effectLst/>
                <a:latin typeface="Arial" panose="020B0604020202020204" pitchFamily="34" charset="0"/>
              </a:rPr>
              <a:t>form validation, interactive galleries, and animations</a:t>
            </a:r>
            <a:r>
              <a:rPr kumimoji="0" lang="en-US" altLang="en-US" sz="1800" b="0" i="0" u="none" strike="noStrike" cap="none" normalizeH="0" baseline="0" dirty="0">
                <a:ln>
                  <a:noFill/>
                </a:ln>
                <a:solidFill>
                  <a:schemeClr val="tx1"/>
                </a:solidFill>
                <a:effectLst/>
                <a:latin typeface="Arial" panose="020B0604020202020204" pitchFamily="34" charset="0"/>
              </a:rPr>
              <a:t> for smooth navigation.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801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C7697-F3F8-E74C-3506-4086E4211437}"/>
              </a:ext>
            </a:extLst>
          </p:cNvPr>
          <p:cNvSpPr>
            <a:spLocks noGrp="1"/>
          </p:cNvSpPr>
          <p:nvPr>
            <p:ph type="ctrTitle"/>
          </p:nvPr>
        </p:nvSpPr>
        <p:spPr>
          <a:xfrm>
            <a:off x="880970" y="671313"/>
            <a:ext cx="10058400" cy="518390"/>
          </a:xfrm>
        </p:spPr>
        <p:txBody>
          <a:bodyPr>
            <a:normAutofit fontScale="90000"/>
          </a:bodyPr>
          <a:lstStyle/>
          <a:p>
            <a:r>
              <a:rPr lang="en-IN" sz="3600" b="1" u="sng" dirty="0">
                <a:solidFill>
                  <a:schemeClr val="tx1"/>
                </a:solidFill>
                <a:latin typeface="Algerian" panose="04020705040A02060702" pitchFamily="82" charset="0"/>
              </a:rPr>
              <a:t>About the interface</a:t>
            </a:r>
          </a:p>
        </p:txBody>
      </p:sp>
      <p:sp>
        <p:nvSpPr>
          <p:cNvPr id="3" name="Subtitle 2">
            <a:extLst>
              <a:ext uri="{FF2B5EF4-FFF2-40B4-BE49-F238E27FC236}">
                <a16:creationId xmlns:a16="http://schemas.microsoft.com/office/drawing/2014/main" id="{D39A27E4-3BBE-95EF-F6AB-6B12B0C647E1}"/>
              </a:ext>
            </a:extLst>
          </p:cNvPr>
          <p:cNvSpPr>
            <a:spLocks noGrp="1"/>
          </p:cNvSpPr>
          <p:nvPr>
            <p:ph type="subTitle" idx="1"/>
          </p:nvPr>
        </p:nvSpPr>
        <p:spPr>
          <a:xfrm>
            <a:off x="1002890" y="1189703"/>
            <a:ext cx="10155561" cy="4996984"/>
          </a:xfrm>
        </p:spPr>
        <p:txBody>
          <a:bodyPr/>
          <a:lstStyle/>
          <a:p>
            <a:r>
              <a:rPr lang="en-IN" dirty="0"/>
              <a:t>H</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dirty="0">
                <a:solidFill>
                  <a:schemeClr val="tx1"/>
                </a:solidFill>
              </a:rPr>
              <a:t>                                       Home page</a:t>
            </a:r>
          </a:p>
        </p:txBody>
      </p:sp>
      <p:pic>
        <p:nvPicPr>
          <p:cNvPr id="6" name="Picture 5">
            <a:extLst>
              <a:ext uri="{FF2B5EF4-FFF2-40B4-BE49-F238E27FC236}">
                <a16:creationId xmlns:a16="http://schemas.microsoft.com/office/drawing/2014/main" id="{A7EC528F-C380-DA19-FD6A-38742AF8B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890" y="1142999"/>
            <a:ext cx="9566788" cy="4451555"/>
          </a:xfrm>
          <a:prstGeom prst="rect">
            <a:avLst/>
          </a:prstGeom>
        </p:spPr>
      </p:pic>
    </p:spTree>
    <p:extLst>
      <p:ext uri="{BB962C8B-B14F-4D97-AF65-F5344CB8AC3E}">
        <p14:creationId xmlns:p14="http://schemas.microsoft.com/office/powerpoint/2010/main" val="1464531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775DE-881E-881B-2603-BFE8E731F675}"/>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5E6A2A6D-C3E4-AEFD-8FCA-71A479A71D02}"/>
              </a:ext>
            </a:extLst>
          </p:cNvPr>
          <p:cNvSpPr>
            <a:spLocks noGrp="1"/>
          </p:cNvSpPr>
          <p:nvPr>
            <p:ph type="subTitle" idx="1"/>
          </p:nvPr>
        </p:nvSpPr>
        <p:spPr>
          <a:xfrm>
            <a:off x="1278193" y="5447072"/>
            <a:ext cx="10194890" cy="442451"/>
          </a:xfrm>
        </p:spPr>
        <p:txBody>
          <a:bodyPr>
            <a:normAutofit fontScale="92500"/>
          </a:bodyPr>
          <a:lstStyle/>
          <a:p>
            <a:r>
              <a:rPr lang="en-US" b="1" dirty="0">
                <a:solidFill>
                  <a:schemeClr val="tx1"/>
                </a:solidFill>
              </a:rPr>
              <a:t>Had  reference interior designs for multiple  sections of home</a:t>
            </a:r>
            <a:endParaRPr lang="en-IN" b="1" dirty="0">
              <a:solidFill>
                <a:schemeClr val="tx1"/>
              </a:solidFill>
            </a:endParaRPr>
          </a:p>
        </p:txBody>
      </p:sp>
      <p:pic>
        <p:nvPicPr>
          <p:cNvPr id="8" name="Picture 7">
            <a:extLst>
              <a:ext uri="{FF2B5EF4-FFF2-40B4-BE49-F238E27FC236}">
                <a16:creationId xmlns:a16="http://schemas.microsoft.com/office/drawing/2014/main" id="{A05716D9-E124-DDC7-9A3F-8DE3DB7693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438" y="658761"/>
            <a:ext cx="10726993" cy="4788312"/>
          </a:xfrm>
          <a:prstGeom prst="rect">
            <a:avLst/>
          </a:prstGeom>
        </p:spPr>
      </p:pic>
    </p:spTree>
    <p:extLst>
      <p:ext uri="{BB962C8B-B14F-4D97-AF65-F5344CB8AC3E}">
        <p14:creationId xmlns:p14="http://schemas.microsoft.com/office/powerpoint/2010/main" val="2586728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89CE1-F817-691E-0EF0-D792D22178D0}"/>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5C68DF2A-39E7-93C7-9746-2792A0D53D53}"/>
              </a:ext>
            </a:extLst>
          </p:cNvPr>
          <p:cNvSpPr>
            <a:spLocks noGrp="1"/>
          </p:cNvSpPr>
          <p:nvPr>
            <p:ph type="subTitle" idx="1"/>
          </p:nvPr>
        </p:nvSpPr>
        <p:spPr>
          <a:xfrm>
            <a:off x="1100051" y="4945626"/>
            <a:ext cx="10058400" cy="652994"/>
          </a:xfrm>
        </p:spPr>
        <p:txBody>
          <a:bodyPr>
            <a:normAutofit fontScale="70000" lnSpcReduction="20000"/>
          </a:bodyPr>
          <a:lstStyle/>
          <a:p>
            <a:r>
              <a:rPr lang="en-IN" b="1" dirty="0">
                <a:solidFill>
                  <a:schemeClr val="tx1"/>
                </a:solidFill>
              </a:rPr>
              <a:t>had multiple  design references for </a:t>
            </a:r>
            <a:r>
              <a:rPr lang="en-IN" b="1" dirty="0" err="1">
                <a:solidFill>
                  <a:schemeClr val="tx1"/>
                </a:solidFill>
              </a:rPr>
              <a:t>diffiernt</a:t>
            </a:r>
            <a:r>
              <a:rPr lang="en-IN" b="1" dirty="0">
                <a:solidFill>
                  <a:schemeClr val="tx1"/>
                </a:solidFill>
              </a:rPr>
              <a:t> sections of home</a:t>
            </a:r>
          </a:p>
          <a:p>
            <a:r>
              <a:rPr lang="en-IN" b="1" dirty="0">
                <a:solidFill>
                  <a:schemeClr val="tx1"/>
                </a:solidFill>
              </a:rPr>
              <a:t>And  we can calculate the price estimation for the designing</a:t>
            </a:r>
          </a:p>
        </p:txBody>
      </p:sp>
      <p:pic>
        <p:nvPicPr>
          <p:cNvPr id="6" name="Picture 5">
            <a:extLst>
              <a:ext uri="{FF2B5EF4-FFF2-40B4-BE49-F238E27FC236}">
                <a16:creationId xmlns:a16="http://schemas.microsoft.com/office/drawing/2014/main" id="{7786994B-0BAD-AE83-E443-C5DDC88B1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3549" y="758952"/>
            <a:ext cx="10253883" cy="4186674"/>
          </a:xfrm>
          <a:prstGeom prst="rect">
            <a:avLst/>
          </a:prstGeom>
        </p:spPr>
      </p:pic>
    </p:spTree>
    <p:extLst>
      <p:ext uri="{BB962C8B-B14F-4D97-AF65-F5344CB8AC3E}">
        <p14:creationId xmlns:p14="http://schemas.microsoft.com/office/powerpoint/2010/main" val="1085405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FA99A-9E14-65E1-58DA-05204F741452}"/>
              </a:ext>
            </a:extLst>
          </p:cNvPr>
          <p:cNvSpPr>
            <a:spLocks noGrp="1"/>
          </p:cNvSpPr>
          <p:nvPr>
            <p:ph type="title"/>
          </p:nvPr>
        </p:nvSpPr>
        <p:spPr>
          <a:xfrm>
            <a:off x="894735" y="286603"/>
            <a:ext cx="10260945" cy="554739"/>
          </a:xfrm>
        </p:spPr>
        <p:txBody>
          <a:bodyPr>
            <a:normAutofit/>
          </a:bodyPr>
          <a:lstStyle/>
          <a:p>
            <a:r>
              <a:rPr lang="en-IN" sz="3200" b="1" dirty="0">
                <a:latin typeface="Algerian" panose="04020705040A02060702" pitchFamily="82" charset="0"/>
              </a:rPr>
              <a:t>Further pages in price calculation:</a:t>
            </a:r>
          </a:p>
        </p:txBody>
      </p:sp>
      <p:sp>
        <p:nvSpPr>
          <p:cNvPr id="3" name="Text Placeholder 2">
            <a:extLst>
              <a:ext uri="{FF2B5EF4-FFF2-40B4-BE49-F238E27FC236}">
                <a16:creationId xmlns:a16="http://schemas.microsoft.com/office/drawing/2014/main" id="{EEE0141B-6B1F-9A35-DF3E-F1AB3838C4A8}"/>
              </a:ext>
            </a:extLst>
          </p:cNvPr>
          <p:cNvSpPr>
            <a:spLocks noGrp="1"/>
          </p:cNvSpPr>
          <p:nvPr>
            <p:ph type="body" idx="1"/>
          </p:nvPr>
        </p:nvSpPr>
        <p:spPr/>
        <p:txBody>
          <a:bodyPr/>
          <a:lstStyle/>
          <a:p>
            <a:endParaRPr lang="en-IN" dirty="0"/>
          </a:p>
        </p:txBody>
      </p:sp>
      <p:sp>
        <p:nvSpPr>
          <p:cNvPr id="5" name="Text Placeholder 4">
            <a:extLst>
              <a:ext uri="{FF2B5EF4-FFF2-40B4-BE49-F238E27FC236}">
                <a16:creationId xmlns:a16="http://schemas.microsoft.com/office/drawing/2014/main" id="{1FD597CC-43DC-972F-7002-9D48CB8DD8A8}"/>
              </a:ext>
            </a:extLst>
          </p:cNvPr>
          <p:cNvSpPr>
            <a:spLocks noGrp="1"/>
          </p:cNvSpPr>
          <p:nvPr>
            <p:ph type="body" sz="quarter" idx="3"/>
          </p:nvPr>
        </p:nvSpPr>
        <p:spPr/>
        <p:txBody>
          <a:bodyPr/>
          <a:lstStyle/>
          <a:p>
            <a:endParaRPr lang="en-IN" dirty="0"/>
          </a:p>
        </p:txBody>
      </p:sp>
      <p:sp>
        <p:nvSpPr>
          <p:cNvPr id="6" name="Content Placeholder 5">
            <a:extLst>
              <a:ext uri="{FF2B5EF4-FFF2-40B4-BE49-F238E27FC236}">
                <a16:creationId xmlns:a16="http://schemas.microsoft.com/office/drawing/2014/main" id="{DA6D1F0B-C158-045B-5CAA-9046A5D7E934}"/>
              </a:ext>
            </a:extLst>
          </p:cNvPr>
          <p:cNvSpPr>
            <a:spLocks noGrp="1"/>
          </p:cNvSpPr>
          <p:nvPr>
            <p:ph sz="quarter" idx="4"/>
          </p:nvPr>
        </p:nvSpPr>
        <p:spPr/>
        <p:txBody>
          <a:bodyPr/>
          <a:lstStyle/>
          <a:p>
            <a:endParaRPr lang="en-IN" dirty="0"/>
          </a:p>
        </p:txBody>
      </p:sp>
      <p:sp>
        <p:nvSpPr>
          <p:cNvPr id="13" name="Content Placeholder 12">
            <a:extLst>
              <a:ext uri="{FF2B5EF4-FFF2-40B4-BE49-F238E27FC236}">
                <a16:creationId xmlns:a16="http://schemas.microsoft.com/office/drawing/2014/main" id="{99062774-508B-D0BC-5FC5-53F9072CAF47}"/>
              </a:ext>
            </a:extLst>
          </p:cNvPr>
          <p:cNvSpPr>
            <a:spLocks noGrp="1"/>
          </p:cNvSpPr>
          <p:nvPr>
            <p:ph sz="half" idx="2"/>
          </p:nvPr>
        </p:nvSpPr>
        <p:spPr/>
        <p:txBody>
          <a:bodyPr/>
          <a:lstStyle/>
          <a:p>
            <a:endParaRPr lang="en-IN"/>
          </a:p>
        </p:txBody>
      </p:sp>
      <p:pic>
        <p:nvPicPr>
          <p:cNvPr id="15" name="Picture 14">
            <a:extLst>
              <a:ext uri="{FF2B5EF4-FFF2-40B4-BE49-F238E27FC236}">
                <a16:creationId xmlns:a16="http://schemas.microsoft.com/office/drawing/2014/main" id="{9E1331B2-A6E5-A90A-5D89-718D759BA0D3}"/>
              </a:ext>
            </a:extLst>
          </p:cNvPr>
          <p:cNvPicPr>
            <a:picLocks noChangeAspect="1"/>
          </p:cNvPicPr>
          <p:nvPr/>
        </p:nvPicPr>
        <p:blipFill>
          <a:blip r:embed="rId2"/>
          <a:stretch>
            <a:fillRect/>
          </a:stretch>
        </p:blipFill>
        <p:spPr>
          <a:xfrm>
            <a:off x="522605" y="816077"/>
            <a:ext cx="5268594" cy="5200581"/>
          </a:xfrm>
          <a:prstGeom prst="rect">
            <a:avLst/>
          </a:prstGeom>
        </p:spPr>
      </p:pic>
      <p:pic>
        <p:nvPicPr>
          <p:cNvPr id="19" name="Picture 18">
            <a:extLst>
              <a:ext uri="{FF2B5EF4-FFF2-40B4-BE49-F238E27FC236}">
                <a16:creationId xmlns:a16="http://schemas.microsoft.com/office/drawing/2014/main" id="{16FE57EA-0726-8148-960A-69BE995F09CA}"/>
              </a:ext>
            </a:extLst>
          </p:cNvPr>
          <p:cNvPicPr>
            <a:picLocks noChangeAspect="1"/>
          </p:cNvPicPr>
          <p:nvPr/>
        </p:nvPicPr>
        <p:blipFill>
          <a:blip r:embed="rId3"/>
          <a:stretch>
            <a:fillRect/>
          </a:stretch>
        </p:blipFill>
        <p:spPr>
          <a:xfrm>
            <a:off x="6217920" y="932238"/>
            <a:ext cx="7463153" cy="5028296"/>
          </a:xfrm>
          <a:prstGeom prst="rect">
            <a:avLst/>
          </a:prstGeom>
        </p:spPr>
      </p:pic>
    </p:spTree>
    <p:extLst>
      <p:ext uri="{BB962C8B-B14F-4D97-AF65-F5344CB8AC3E}">
        <p14:creationId xmlns:p14="http://schemas.microsoft.com/office/powerpoint/2010/main" val="3926744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CCB7F-E45B-C9D4-8CD8-51E95B7C5A53}"/>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EA7D3CEC-AFAE-12C0-DECA-702507E0B44B}"/>
              </a:ext>
            </a:extLst>
          </p:cNvPr>
          <p:cNvSpPr>
            <a:spLocks noGrp="1"/>
          </p:cNvSpPr>
          <p:nvPr>
            <p:ph type="subTitle" idx="1"/>
          </p:nvPr>
        </p:nvSpPr>
        <p:spPr>
          <a:xfrm>
            <a:off x="953729" y="5084064"/>
            <a:ext cx="10204722" cy="620514"/>
          </a:xfrm>
        </p:spPr>
        <p:txBody>
          <a:bodyPr/>
          <a:lstStyle/>
          <a:p>
            <a:r>
              <a:rPr lang="en-IN" b="1" dirty="0">
                <a:solidFill>
                  <a:schemeClr val="tx1"/>
                </a:solidFill>
              </a:rPr>
              <a:t>Budget estimation  </a:t>
            </a:r>
          </a:p>
        </p:txBody>
      </p:sp>
      <p:pic>
        <p:nvPicPr>
          <p:cNvPr id="5" name="Picture 4">
            <a:extLst>
              <a:ext uri="{FF2B5EF4-FFF2-40B4-BE49-F238E27FC236}">
                <a16:creationId xmlns:a16="http://schemas.microsoft.com/office/drawing/2014/main" id="{0008E628-384E-73B7-3D4B-F10CED9130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280" y="0"/>
            <a:ext cx="10058400" cy="4945626"/>
          </a:xfrm>
          <a:prstGeom prst="rect">
            <a:avLst/>
          </a:prstGeom>
        </p:spPr>
      </p:pic>
    </p:spTree>
    <p:extLst>
      <p:ext uri="{BB962C8B-B14F-4D97-AF65-F5344CB8AC3E}">
        <p14:creationId xmlns:p14="http://schemas.microsoft.com/office/powerpoint/2010/main" val="3646687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021E-8DC4-8569-369C-B13B389D4C77}"/>
              </a:ext>
            </a:extLst>
          </p:cNvPr>
          <p:cNvSpPr>
            <a:spLocks noGrp="1"/>
          </p:cNvSpPr>
          <p:nvPr>
            <p:ph type="ctrTitle"/>
          </p:nvPr>
        </p:nvSpPr>
        <p:spPr>
          <a:xfrm>
            <a:off x="1097279" y="705705"/>
            <a:ext cx="9029700" cy="406908"/>
          </a:xfrm>
        </p:spPr>
        <p:txBody>
          <a:bodyPr>
            <a:normAutofit fontScale="90000"/>
          </a:bodyPr>
          <a:lstStyle/>
          <a:p>
            <a:r>
              <a:rPr lang="en-IN" sz="2800" dirty="0">
                <a:solidFill>
                  <a:schemeClr val="tx1"/>
                </a:solidFill>
                <a:latin typeface="Algerian" panose="04020705040A02060702" pitchFamily="82" charset="0"/>
              </a:rPr>
              <a:t>How angular </a:t>
            </a:r>
            <a:r>
              <a:rPr lang="en-IN" sz="2800" dirty="0" err="1">
                <a:solidFill>
                  <a:schemeClr val="tx1"/>
                </a:solidFill>
                <a:latin typeface="Algerian" panose="04020705040A02060702" pitchFamily="82" charset="0"/>
              </a:rPr>
              <a:t>js</a:t>
            </a:r>
            <a:r>
              <a:rPr lang="en-IN" sz="2800" dirty="0">
                <a:solidFill>
                  <a:schemeClr val="tx1"/>
                </a:solidFill>
                <a:latin typeface="Algerian" panose="04020705040A02060702" pitchFamily="82" charset="0"/>
              </a:rPr>
              <a:t> is incorporated in </a:t>
            </a:r>
            <a:r>
              <a:rPr lang="en-IN" sz="2800" dirty="0" err="1">
                <a:solidFill>
                  <a:schemeClr val="tx1"/>
                </a:solidFill>
                <a:latin typeface="Algerian" panose="04020705040A02060702" pitchFamily="82" charset="0"/>
              </a:rPr>
              <a:t>stylespace</a:t>
            </a:r>
            <a:endParaRPr lang="en-IN" sz="2800" dirty="0">
              <a:solidFill>
                <a:schemeClr val="tx1"/>
              </a:solidFill>
              <a:latin typeface="Algerian" panose="04020705040A02060702" pitchFamily="82" charset="0"/>
            </a:endParaRPr>
          </a:p>
        </p:txBody>
      </p:sp>
      <p:sp>
        <p:nvSpPr>
          <p:cNvPr id="3" name="Subtitle 2">
            <a:extLst>
              <a:ext uri="{FF2B5EF4-FFF2-40B4-BE49-F238E27FC236}">
                <a16:creationId xmlns:a16="http://schemas.microsoft.com/office/drawing/2014/main" id="{A65ED652-175B-174C-37A3-CB817289775B}"/>
              </a:ext>
            </a:extLst>
          </p:cNvPr>
          <p:cNvSpPr>
            <a:spLocks noGrp="1"/>
          </p:cNvSpPr>
          <p:nvPr>
            <p:ph type="subTitle" idx="1"/>
          </p:nvPr>
        </p:nvSpPr>
        <p:spPr>
          <a:xfrm>
            <a:off x="1168631" y="4556759"/>
            <a:ext cx="9606049" cy="45719"/>
          </a:xfrm>
        </p:spPr>
        <p:txBody>
          <a:bodyPr>
            <a:normAutofit fontScale="25000" lnSpcReduction="20000"/>
          </a:bodyPr>
          <a:lstStyle/>
          <a:p>
            <a:endParaRPr lang="en-IN" dirty="0"/>
          </a:p>
        </p:txBody>
      </p:sp>
      <p:sp>
        <p:nvSpPr>
          <p:cNvPr id="6" name="Rectangle 1">
            <a:extLst>
              <a:ext uri="{FF2B5EF4-FFF2-40B4-BE49-F238E27FC236}">
                <a16:creationId xmlns:a16="http://schemas.microsoft.com/office/drawing/2014/main" id="{B261C4F2-9C45-FB69-D4C5-2ED18C3C2DB2}"/>
              </a:ext>
            </a:extLst>
          </p:cNvPr>
          <p:cNvSpPr>
            <a:spLocks noChangeArrowheads="1"/>
          </p:cNvSpPr>
          <p:nvPr/>
        </p:nvSpPr>
        <p:spPr bwMode="auto">
          <a:xfrm>
            <a:off x="1168631" y="1153098"/>
            <a:ext cx="1020802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mj-lt"/>
              <a:buAutoNum type="arabicPeriod"/>
            </a:pPr>
            <a:endParaRPr lang="en-US" b="1" dirty="0"/>
          </a:p>
          <a:p>
            <a:pPr>
              <a:buFont typeface="+mj-lt"/>
              <a:buAutoNum type="arabicPeriod"/>
            </a:pPr>
            <a:r>
              <a:rPr lang="en-US" b="1" dirty="0">
                <a:solidFill>
                  <a:schemeClr val="tx1"/>
                </a:solidFill>
              </a:rPr>
              <a:t>Component-Based Architecture</a:t>
            </a:r>
            <a:r>
              <a:rPr lang="en-US" dirty="0">
                <a:solidFill>
                  <a:schemeClr val="tx1"/>
                </a:solidFill>
              </a:rPr>
              <a:t> – AngularJS enables a modular approach, making it </a:t>
            </a:r>
          </a:p>
          <a:p>
            <a:r>
              <a:rPr lang="en-US" dirty="0">
                <a:solidFill>
                  <a:schemeClr val="tx1"/>
                </a:solidFill>
              </a:rPr>
              <a:t>easy to manage different sections like room designs, designer listings, and user dashboards.</a:t>
            </a:r>
          </a:p>
          <a:p>
            <a:r>
              <a:rPr lang="en-US" b="1" dirty="0">
                <a:solidFill>
                  <a:schemeClr val="tx1"/>
                </a:solidFill>
              </a:rPr>
              <a:t>2.Dynamic Data Binding</a:t>
            </a:r>
            <a:r>
              <a:rPr lang="en-US" dirty="0">
                <a:solidFill>
                  <a:schemeClr val="tx1"/>
                </a:solidFill>
              </a:rPr>
              <a:t> – Ensures real-time updates, allowing users to instantly see changes in design recommendations, filters, and selections.</a:t>
            </a:r>
          </a:p>
          <a:p>
            <a:r>
              <a:rPr lang="en-US" b="1" dirty="0">
                <a:solidFill>
                  <a:schemeClr val="tx1"/>
                </a:solidFill>
              </a:rPr>
              <a:t>3.Single Page Application (SPA)</a:t>
            </a:r>
            <a:r>
              <a:rPr lang="en-US" dirty="0">
                <a:solidFill>
                  <a:schemeClr val="tx1"/>
                </a:solidFill>
              </a:rPr>
              <a:t> – Enhances user experience with smooth navigation, reducing page reloads while exploring designs or contacting designers.</a:t>
            </a:r>
          </a:p>
          <a:p>
            <a:r>
              <a:rPr lang="en-US" b="1" dirty="0">
                <a:solidFill>
                  <a:schemeClr val="tx1"/>
                </a:solidFill>
              </a:rPr>
              <a:t>4.REST API Integration</a:t>
            </a:r>
            <a:r>
              <a:rPr lang="en-US" dirty="0">
                <a:solidFill>
                  <a:schemeClr val="tx1"/>
                </a:solidFill>
              </a:rPr>
              <a:t> – Fetches and displays designer profiles, user preferences, and design data efficiently from the backend.</a:t>
            </a:r>
          </a:p>
          <a:p>
            <a:r>
              <a:rPr lang="en-US" b="1" dirty="0">
                <a:solidFill>
                  <a:schemeClr val="tx1"/>
                </a:solidFill>
              </a:rPr>
              <a:t>5.Form Handling &amp; Validation</a:t>
            </a:r>
            <a:r>
              <a:rPr lang="en-US" dirty="0">
                <a:solidFill>
                  <a:schemeClr val="tx1"/>
                </a:solidFill>
              </a:rPr>
              <a:t> – Ensures seamless user registration, login, and custom design requests with real-time validation and error handling.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3113379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295</TotalTime>
  <Words>471</Words>
  <Application>Microsoft Office PowerPoint</Application>
  <PresentationFormat>Widescreen</PresentationFormat>
  <Paragraphs>50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Algerian</vt:lpstr>
      <vt:lpstr>Arial</vt:lpstr>
      <vt:lpstr>Bahnschrift</vt:lpstr>
      <vt:lpstr>Calibri</vt:lpstr>
      <vt:lpstr>Calibri Light</vt:lpstr>
      <vt:lpstr>Harlow Solid Italic</vt:lpstr>
      <vt:lpstr>Retrospect</vt:lpstr>
      <vt:lpstr>Style space</vt:lpstr>
      <vt:lpstr>Problem statement</vt:lpstr>
      <vt:lpstr>Technologies used: HTML (HyperText Markup Language) Defines the structure of web pages, such as headers, sections, and navigation.  Creates the layout for room-specific designs, designer profiles, and customization options.  Forms are used for user sign-ups, designer registrations, and contact requests.  CSS (Cascading Style Sheets) Enhances the visual design by styling elements like fonts, colors, and layouts.  Implements a modern and UI, ensuring a smooth experience across devices.  Provides grid and flexbox layouts for displaying designer portfolios and design inspirations attractively.  JavaScript (JS) Adds interactivity and enhances user experience.  Enables dynamic filtering and searching of room designs and designer profiles.  Handles form validation, interactive galleries, and animations for smooth navigation. </vt:lpstr>
      <vt:lpstr>About the interface</vt:lpstr>
      <vt:lpstr>PowerPoint Presentation</vt:lpstr>
      <vt:lpstr>PowerPoint Presentation</vt:lpstr>
      <vt:lpstr>Further pages in price calculation:</vt:lpstr>
      <vt:lpstr>PowerPoint Presentation</vt:lpstr>
      <vt:lpstr>How angular js is incorporated in stylespace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EeshaManogna kosuri</dc:creator>
  <cp:lastModifiedBy>EeshaManogna kosuri</cp:lastModifiedBy>
  <cp:revision>2</cp:revision>
  <dcterms:created xsi:type="dcterms:W3CDTF">2025-03-09T12:57:01Z</dcterms:created>
  <dcterms:modified xsi:type="dcterms:W3CDTF">2025-03-09T17:52:34Z</dcterms:modified>
</cp:coreProperties>
</file>